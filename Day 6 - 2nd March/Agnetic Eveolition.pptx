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2" r:id="rId9"/>
    <p:sldId id="263" r:id="rId10"/>
    <p:sldId id="264" r:id="rId11"/>
    <p:sldId id="265" r:id="rId12"/>
    <p:sldId id="268" r:id="rId13"/>
    <p:sldId id="267" r:id="rId14"/>
    <p:sldId id="266" r:id="rId15"/>
    <p:sldId id="269" r:id="rId16"/>
    <p:sldId id="307" r:id="rId17"/>
    <p:sldId id="270" r:id="rId18"/>
    <p:sldId id="306"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308"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Introduction to Session 1	Agentic AI &amp; Agentic RAG	"Evolution of AI agents</a:t>
            </a:r>
          </a:p>
          <a:p>
            <a:r>
              <a:t>Core components of an AI agent</a:t>
            </a:r>
          </a:p>
          <a:p>
            <a:r>
              <a:t>Planning, reasoning, and tool usage</a:t>
            </a:r>
          </a:p>
          <a:p>
            <a:r>
              <a:t>Open AI Agents  SDK</a:t>
            </a:r>
          </a:p>
          <a:p>
            <a:r>
              <a:t>Agent architectures</a:t>
            </a:r>
          </a:p>
          <a:p>
            <a:r>
              <a:t>CRAG (Corrective RAG)"	3 hrs</a:t>
            </a:r>
          </a:p>
          <a:p>
            <a:r>
              <a:t>Lunch			</a:t>
            </a:r>
          </a:p>
          <a:p>
            <a:r>
              <a:t>Session 2	Agentic AI &amp; Agentic RAG	"Single-agent vs multi-agent systems</a:t>
            </a:r>
          </a:p>
          <a:p>
            <a:r>
              <a:t>Building a simple AI agent (hands-on)</a:t>
            </a:r>
          </a:p>
          <a:p>
            <a:r>
              <a:t>Multi-agent workflows with LangGraph</a:t>
            </a:r>
          </a:p>
          <a:p>
            <a:r>
              <a:t>Different types of Agents and agentic handoff</a:t>
            </a:r>
          </a:p>
          <a:p>
            <a:r>
              <a:t>"	3.5 hrs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section will provide an introduction to Agentic AI, exploring its fundamental concepts and significance in modern technologies. We will also outline the objectives of this session to guide our understanding.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this slide, we introduce the concept of Agentic AI, which is characterized by its ability to make autonomous decisions. This type of AI operates independently from human input, allowing it to perform tasks efficiently. Additionally, Agentic AI can adapt to new information and changes in its environment, making it highly versatile.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Agentic AI is pivotal in modern applications due to its ability to enhance efficiency across various industries, such as healthcare and finance. By leveraging real-time data analysis, Agentic AI improves decision-making processes. Additionally, it plays a critical role in creating personalized experiences for users, thus increasing engagement and satisfaction.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outlines the objectives of our session. We aim to understand the foundational principles of Agentic AI systems. Furthermore, we will explore how these systems are applied across various sectors and the benefits they offer. Lastly, we will identify the challenges faced by Agentic AI today, as well as potential future trends.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section will explore the evolution of AI agents, covering their historical progression, key milestones, and impact on modern technology.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journey of AI began in the 1950s when researchers started exploring algorithms that could mimic human thought. Initially, the focus was on solving mathematical problems and symbolic reasoning. By the 1970s, expert systems, which are computer systems that emulate the decision-making ability of a human expert, marked a significant advancement.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1980s experienced an 'AI winter' due to unmet expectations and limited funding. However, the 1990s marked a revival. Enhanced algorithms and increased computing power rekindled interest and investment in AI research, paving the way for more sophisticated systems.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early 2000s saw the rise of deep learning, a subset of machine learning that uses neural networks with many layers. This advancement allowed for more complex and effective processing capabilities. Deep learning revolutionized fields like image and speech recognition, setting new standards for AI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Looking ahead, AI is expected to continue evolving, with increased focus on ethical considerations such as bias and privacy. There's potential for AI to revolutionize sectors yet untouched by its capabilities. Current research efforts are also directed at enhancing the interaction between AI systems and humans, aiming for more seamless and intuitive interfaces.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AI has become a cornerstone in various industries, including healthcare, where it aids in diagnostics, and finance, where it enhances decision-making through data analytics. Automation powered by AI is boosting productivity, and AI personal assistants have become a ubiquitous part of daily life, aiding users with tasks and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 significant milestone in AI was achieved in 2016 when AlphaGo, developed by DeepMind, defeated the world champion Go player, Lee Sedol. This victory was attributed to advanced neural networks and reinforcement learning techniques, highlighting AI's capability to excel in intricate strategic environments.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this section, we will explore the fundamental components that make up an AI agent. These include perception and sensing, decision-making processes, action and interaction, and learning mechanisms. Each component plays a crucial role in the functionality and efficiency of AI systems.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this section, we will explore the fundamental components that make up an AI agent. These include perception and sensing, decision-making processes, action and interaction, and learning mechanisms. Each component plays a crucial role in the functionality and efficiency of AI systems.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Perception and sensing are fundamental for an AI agent to interpret its surroundings. Various sensors are used to collect data, which can include images, sounds, and other signals. The quality and accuracy of this data are critical for effective perception.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this section, we will explore the fundamental components that make up an AI agent. These include perception and sensing, decision-making processes, action and interaction, and learning mechanisms. Each component plays a crucial role in the functionality and efficiency of AI systems.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AI agents employ decision-making processes to analyze data and choose actions. Algorithms are used to evaluate information, with rule-based systems relying on predefined logic. Machine learning enables AI to improve decisions by adapting to new data inputs over time.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Different approaches to decision-making in AI include heuristic methods, which simplify complex issues, and probabilistic models, which manage data uncertainty. Neural networks are particularly effective for recognizing patterns, making them useful in various AI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Once decisions are made, AI agents perform actions, which can involve interactions with humans or other systems. These interactions are crucial for tasks such as customer service or collaborative robotics. Feedback loops from these interactions help refine system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AI agents employ various learning mechanisms to enhance their capabilities. Supervised learning involves training with labeled datasets, while unsupervised learning identifies patterns without labels. Reinforcement learning focuses on optimizing actions through reward-based systems.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Recent advancements in AI learning technologies have significantly enhanced capabilities. Deep learning has been a key driver, enabling complex problem-solving. Transfer learning allows AI to apply knowledge from one task to another, while continuous learning supports ongoing adaptation and improvement.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section introduces the key concepts and tools for developing agent architectures using various SDKs. We will explore different architectural patterns and review case studies to understand practical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Open AI Agents SDK is a comprehensive toolkit designed for developing intelligent agents. It allows seamless integration with various AI models, enabling developers to prototype and deploy solutions efficiently.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Open AI Agents SDK boasts a modular architecture, allowing developers to customize and extend functionalities. It supports natural language processing and has extensive resources and community support to aid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Architectural patterns play a crucial role in agent design. Reactive and deliberative architectures serve different needs, while hybrid architectures combine both to handle complex tasks. Feedback loops enhance learning and adaptability.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case study highlights the implementation of an AI agent in a customer service setting using the Open AI Agents SDK. It successfully reduced response times and improved customer satisfaction, demonstrating the SDK's efficacy.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healthcare, AI agents developed using the Open AI Agents SDK assist with patient diagnosis and monitoring. By integrating with electronic health records, these agents provide more accurate diagnosis recommendations, improving patient outcomes.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this section, we will explore strategic planning, logical reasoning, and effective tool integration. This foundation supports making informed decisions and enhancing productivity.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Strategic planning involves setting objectives to guide your organization. It's crucial to understand available resources, constraints, and to map out a timeline for execution.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Logical reasoning is essential for sound decision-making. It involves identifying premises, evaluating argument validity, and applying deductive or inductive reasoning to draw conclusions.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Effective tool integration requires selecting appropriate tools that meet project needs, ensuring compatibility, and providing necessary training to maximize tool utility and efficiency.</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Strategic use of tools leads to enhanced efficiency and productivity, improved data management, and better communication across teams, contributing to overall organizational success.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Integrating new tools can present challenges such as resistance to change, compatibility with legacy systems, and the need for ongoing updates and maintenance to ensure smooth operation.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section introduces the concept of Corrective RAG, or CRAG. It will provide an overview, discuss implementation strategies, and explore various applications. CRAG is a powerful tool used in project management to monitor, assess, and rectify issues effectively.</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this slide, we introduce Corrective RAG, a tool that helps in managing projects by assigning colors to indicate the status of specific areas. Red indicates critical issues, Amber suggests caution, and Green means everything is on track. This system facilitates quick decision-making and prioritization of tasks.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this slide, we introduce Corrective RAG, a tool that helps in managing projects by assigning colors to indicate the status of specific areas. Red indicates critical issues, Amber suggests caution, and Green means everything is on track. This system facilitates quick decision-making and prioritization of tasks.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Implementing CRAG offers several benefits. It provides clear visibility into the project's health, allowing managers to address issues before they escalate. Additionally, it fosters better communication among team members and stakeholders by providing a clear, visual representation of project status.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effectively implement CRAG, it's crucial to define clear criteria for what constitutes Red, Amber, or Green status. Regular updates using these criteria ensure accurate tracking. Engaging stakeholders in the process ensures everyone is aligned and understands the project's priorities and challenges.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CRAG is widely used in project management to manage risks by identifying potential issues early. It assists in tracking progress against set goals and performance metrics, providing a visual status that supports informed decision-making. This application ensures projects stay on track and goals are met efficiently.</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this section, we will explore the differences between single-agent and multi-agent systems, examining their characteristics, benefits, challenges, and real-world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provides a comparative analysis of single-agent and multi-agent systems. Single-agent systems typically handle tasks independently, while multi-agent systems involve coordination among multiple agents, adding complexity. Understanding these distinctions is crucial for selecting the appropriate system for specific tasks.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Single-agent systems offer several benefits, including simpler design and implementation processes. They are generally easier to manage and debug, making them suitable for straightforward tasks. Additionally, they require fewer resources, which can be advantageous in resource-constrained environments.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Multi-agent systems present challenges such as increased complexity in coordinating multiple agents. Communication overhead can also be significant, and ensuring the efficiency of the entire system can be difficult. These challenges must be addressed for successful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Single-agent systems are particularly effective in environments where tasks are static and well-defined. They are ideal for scenarios with limited complexity and clear objectives, making them a good choice for specific, unchanging tasks.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Multi-agent systems excel in dynamic and complex environments where collaboration is necessary. They are particularly useful for distributed problem-solving tasks, where multiple agents can work together to achieve a common goal. This makes them suitable for a variety of real-world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section introduces the process of developing and managing AI agents. We'll explore hands-on development, advanced workflows, and handoff techniques to ensure smooth operation and integration of AI agents in various environments.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focuses on the essentials of hands-on AI agent development. We'll discuss the core architectures and models used in AI agents, explore foundational algorithms, and review the key development tools that enhance coding efficiency.</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Setting up the right development environment is critical for AI agent success. This slide covers choosing suitable frameworks, ensuring compatibility with AI libraries, and optimizing environments for collaboration and testing.</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LangGraph plays a pivotal role in managing multi-agent workflows. We will look into how LangGraph facilitates task coordination, enables seamless workflows, and helps in monitoring and optimizing interactions among agents.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Agentic handoff techniques are crucial for maintaining operational continuity. This slide discusses how to ensure smooth transitions, utilize effective protocols, and minimize data loss during the handoff process between AI agents.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Effective management of AI agents is vital for their success. We will explore best practices including regular updates, implementing security measures, and fostering an environment of continuous learning and improvement for AI agents.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14400" y="1828800"/>
            <a:ext cx="7315200" cy="2214880"/>
          </a:xfrm>
          <a:prstGeom prst="rect">
            <a:avLst/>
          </a:prstGeom>
          <a:noFill/>
        </p:spPr>
        <p:txBody>
          <a:bodyPr wrap="square">
            <a:spAutoFit/>
          </a:bodyPr>
          <a:lstStyle/>
          <a:p>
            <a:pPr algn="ctr">
              <a:defRPr sz="4000" b="1">
                <a:solidFill>
                  <a:srgbClr val="1F497D"/>
                </a:solidFill>
              </a:defRPr>
            </a:pPr>
            <a:r>
              <a:t>Session 1	Agentic AI &amp; Agentic RAG	"Evolution of AI agents</a:t>
            </a:r>
          </a:p>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14400" y="2103120"/>
            <a:ext cx="7315200" cy="914400"/>
          </a:xfrm>
          <a:prstGeom prst="rect">
            <a:avLst/>
          </a:prstGeom>
          <a:noFill/>
        </p:spPr>
        <p:txBody>
          <a:bodyPr wrap="square">
            <a:spAutoFit/>
          </a:bodyPr>
          <a:lstStyle/>
          <a:p>
            <a:pPr algn="ctr">
              <a:defRPr sz="3600" b="1">
                <a:solidFill>
                  <a:srgbClr val="1F497D"/>
                </a:solidFill>
              </a:defRPr>
            </a:pPr>
            <a:r>
              <a:t>Introduction to Agentic 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Overview of Agentic AI</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Agentic AI refers to systems with autonomous decision-making capabilities.</a:t>
            </a:r>
          </a:p>
          <a:p>
            <a:pPr>
              <a:spcBef>
                <a:spcPts val="400"/>
              </a:spcBef>
              <a:spcAft>
                <a:spcPts val="400"/>
              </a:spcAft>
              <a:defRPr sz="1600">
                <a:solidFill>
                  <a:srgbClr val="000000"/>
                </a:solidFill>
              </a:defRPr>
            </a:pPr>
            <a:r>
              <a:t>These systems can perform tasks without human intervention.</a:t>
            </a:r>
          </a:p>
          <a:p>
            <a:pPr>
              <a:spcBef>
                <a:spcPts val="400"/>
              </a:spcBef>
              <a:spcAft>
                <a:spcPts val="400"/>
              </a:spcAft>
              <a:defRPr sz="1600">
                <a:solidFill>
                  <a:srgbClr val="000000"/>
                </a:solidFill>
              </a:defRPr>
            </a:pPr>
            <a:r>
              <a:t>Agentic AI adapts to new information and changing environments.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Importance in Modern Applications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Agentic AI enhances efficiency in industries like healthcare and finance.</a:t>
            </a:r>
          </a:p>
          <a:p>
            <a:pPr>
              <a:spcBef>
                <a:spcPts val="400"/>
              </a:spcBef>
              <a:spcAft>
                <a:spcPts val="400"/>
              </a:spcAft>
              <a:defRPr sz="1600">
                <a:solidFill>
                  <a:srgbClr val="000000"/>
                </a:solidFill>
              </a:defRPr>
            </a:pPr>
            <a:r>
              <a:t>It improves decision-making processes with real-time data analysis.</a:t>
            </a:r>
          </a:p>
          <a:p>
            <a:pPr>
              <a:spcBef>
                <a:spcPts val="400"/>
              </a:spcBef>
              <a:spcAft>
                <a:spcPts val="400"/>
              </a:spcAft>
              <a:defRPr sz="1600">
                <a:solidFill>
                  <a:srgbClr val="000000"/>
                </a:solidFill>
              </a:defRPr>
            </a:pPr>
            <a:r>
              <a:t>Facilitates the development of personalized user experiences.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Session Objectives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Understand the basic principles of Agentic AI systems.</a:t>
            </a:r>
          </a:p>
          <a:p>
            <a:pPr>
              <a:spcBef>
                <a:spcPts val="400"/>
              </a:spcBef>
              <a:spcAft>
                <a:spcPts val="400"/>
              </a:spcAft>
              <a:defRPr sz="1600">
                <a:solidFill>
                  <a:srgbClr val="000000"/>
                </a:solidFill>
              </a:defRPr>
            </a:pPr>
            <a:r>
              <a:t>Explore the applications and benefits across sectors.</a:t>
            </a:r>
          </a:p>
          <a:p>
            <a:pPr>
              <a:spcBef>
                <a:spcPts val="400"/>
              </a:spcBef>
              <a:spcAft>
                <a:spcPts val="400"/>
              </a:spcAft>
              <a:defRPr sz="1600">
                <a:solidFill>
                  <a:srgbClr val="000000"/>
                </a:solidFill>
              </a:defRPr>
            </a:pPr>
            <a:r>
              <a:t>Identify challenges and future trends in Agentic AI.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14400" y="2103120"/>
            <a:ext cx="7315200" cy="914400"/>
          </a:xfrm>
          <a:prstGeom prst="rect">
            <a:avLst/>
          </a:prstGeom>
          <a:noFill/>
        </p:spPr>
        <p:txBody>
          <a:bodyPr wrap="square">
            <a:spAutoFit/>
          </a:bodyPr>
          <a:lstStyle/>
          <a:p>
            <a:pPr algn="ctr">
              <a:defRPr sz="3600" b="1">
                <a:solidFill>
                  <a:srgbClr val="1F497D"/>
                </a:solidFill>
              </a:defRPr>
            </a:pPr>
            <a:r>
              <a:t>Evolution of AI Agents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Historical Progression of AI Agents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AI research began in the 1950s with simple algorithms.</a:t>
            </a:r>
          </a:p>
          <a:p>
            <a:pPr>
              <a:spcBef>
                <a:spcPts val="400"/>
              </a:spcBef>
              <a:spcAft>
                <a:spcPts val="400"/>
              </a:spcAft>
              <a:defRPr sz="1600">
                <a:solidFill>
                  <a:srgbClr val="000000"/>
                </a:solidFill>
              </a:defRPr>
            </a:pPr>
            <a:r>
              <a:t>Early AI focused on problem-solving and symbolic reasoning.</a:t>
            </a:r>
          </a:p>
          <a:p>
            <a:pPr>
              <a:spcBef>
                <a:spcPts val="400"/>
              </a:spcBef>
              <a:spcAft>
                <a:spcPts val="400"/>
              </a:spcAft>
              <a:defRPr sz="1600">
                <a:solidFill>
                  <a:srgbClr val="000000"/>
                </a:solidFill>
              </a:defRPr>
            </a:pPr>
            <a:r>
              <a:t>The 1970s saw the development of expert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AI Winter and Subsequent Revival</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AI faced reduced funding and interest in the 1980s.</a:t>
            </a:r>
          </a:p>
          <a:p>
            <a:pPr>
              <a:spcBef>
                <a:spcPts val="400"/>
              </a:spcBef>
              <a:spcAft>
                <a:spcPts val="400"/>
              </a:spcAft>
              <a:defRPr sz="1600">
                <a:solidFill>
                  <a:srgbClr val="000000"/>
                </a:solidFill>
              </a:defRPr>
            </a:pPr>
            <a:r>
              <a:t>The 1990s saw a revival with improved algorithms.</a:t>
            </a:r>
          </a:p>
          <a:p>
            <a:pPr>
              <a:spcBef>
                <a:spcPts val="400"/>
              </a:spcBef>
              <a:spcAft>
                <a:spcPts val="400"/>
              </a:spcAft>
              <a:defRPr sz="1600">
                <a:solidFill>
                  <a:srgbClr val="000000"/>
                </a:solidFill>
              </a:defRPr>
            </a:pPr>
            <a:r>
              <a:t>Increased computing power boosted AI research.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Key Milestone: Deep Learning Emergence</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Deep learning emerged in the early 2000s.</a:t>
            </a:r>
          </a:p>
          <a:p>
            <a:pPr>
              <a:spcBef>
                <a:spcPts val="400"/>
              </a:spcBef>
              <a:spcAft>
                <a:spcPts val="400"/>
              </a:spcAft>
              <a:defRPr sz="1600">
                <a:solidFill>
                  <a:srgbClr val="000000"/>
                </a:solidFill>
              </a:defRPr>
            </a:pPr>
            <a:r>
              <a:t>Neural networks became more complex and effective.</a:t>
            </a:r>
          </a:p>
          <a:p>
            <a:pPr>
              <a:spcBef>
                <a:spcPts val="400"/>
              </a:spcBef>
              <a:spcAft>
                <a:spcPts val="400"/>
              </a:spcAft>
              <a:defRPr sz="1600">
                <a:solidFill>
                  <a:srgbClr val="000000"/>
                </a:solidFill>
              </a:defRPr>
            </a:pPr>
            <a:r>
              <a:t>Applications in image and speech recognition.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p:nvPr/>
        </p:nvPicPr>
        <p:blipFill>
          <a:blip r:embed="rId1"/>
          <a:srcRect b="8543"/>
          <a:stretch>
            <a:fillRect/>
          </a:stretch>
        </p:blipFill>
        <p:spPr>
          <a:xfrm>
            <a:off x="442595" y="687070"/>
            <a:ext cx="8127365" cy="34804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p:nvPr/>
        </p:nvPicPr>
        <p:blipFill>
          <a:blip r:embed="rId1"/>
          <a:srcRect t="11086"/>
          <a:stretch>
            <a:fillRect/>
          </a:stretch>
        </p:blipFill>
        <p:spPr>
          <a:xfrm>
            <a:off x="1327785" y="285115"/>
            <a:ext cx="6107430" cy="45732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tretch>
            <a:fillRect/>
          </a:stretch>
        </p:blipFill>
        <p:spPr>
          <a:xfrm>
            <a:off x="357505" y="559435"/>
            <a:ext cx="8428355" cy="4160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14400" y="2103120"/>
            <a:ext cx="7315200" cy="914400"/>
          </a:xfrm>
          <a:prstGeom prst="rect">
            <a:avLst/>
          </a:prstGeom>
          <a:noFill/>
        </p:spPr>
        <p:txBody>
          <a:bodyPr wrap="square">
            <a:spAutoFit/>
          </a:bodyPr>
          <a:lstStyle/>
          <a:p>
            <a:pPr algn="ctr">
              <a:defRPr sz="3600" b="1">
                <a:solidFill>
                  <a:srgbClr val="1F497D"/>
                </a:solidFill>
              </a:defRPr>
            </a:pPr>
            <a:r>
              <a:t>Core Components of an AI Agent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p:nvPr/>
        </p:nvPicPr>
        <p:blipFill>
          <a:blip r:embed="rId1"/>
          <a:srcRect t="21617"/>
          <a:stretch>
            <a:fillRect/>
          </a:stretch>
        </p:blipFill>
        <p:spPr>
          <a:xfrm>
            <a:off x="234315" y="556260"/>
            <a:ext cx="8394700" cy="40316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Understanding Perception and Sensing</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Perception involves gathering data from the environment.</a:t>
            </a:r>
          </a:p>
          <a:p>
            <a:pPr>
              <a:spcBef>
                <a:spcPts val="400"/>
              </a:spcBef>
              <a:spcAft>
                <a:spcPts val="400"/>
              </a:spcAft>
              <a:defRPr sz="1600">
                <a:solidFill>
                  <a:srgbClr val="000000"/>
                </a:solidFill>
              </a:defRPr>
            </a:pPr>
            <a:r>
              <a:t>Sensors capture visual, auditory, and other data types.</a:t>
            </a:r>
          </a:p>
          <a:p>
            <a:pPr>
              <a:spcBef>
                <a:spcPts val="400"/>
              </a:spcBef>
              <a:spcAft>
                <a:spcPts val="400"/>
              </a:spcAft>
              <a:defRPr sz="1600">
                <a:solidFill>
                  <a:srgbClr val="000000"/>
                </a:solidFill>
              </a:defRPr>
            </a:pPr>
            <a:r>
              <a:t>Data quality affects AI's ability to perceive accurately.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p:nvPr/>
        </p:nvPicPr>
        <p:blipFill>
          <a:blip r:embed="rId1"/>
          <a:srcRect t="15558"/>
          <a:stretch>
            <a:fillRect/>
          </a:stretch>
        </p:blipFill>
        <p:spPr>
          <a:xfrm>
            <a:off x="1111885" y="351790"/>
            <a:ext cx="6920230" cy="4439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Decision-Making Processes in AI</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Algorithms evaluate data to make informed decisions.</a:t>
            </a:r>
          </a:p>
          <a:p>
            <a:pPr>
              <a:spcBef>
                <a:spcPts val="400"/>
              </a:spcBef>
              <a:spcAft>
                <a:spcPts val="400"/>
              </a:spcAft>
              <a:defRPr sz="1600">
                <a:solidFill>
                  <a:srgbClr val="000000"/>
                </a:solidFill>
              </a:defRPr>
            </a:pPr>
            <a:r>
              <a:t>Rule-based systems use predefined logic.</a:t>
            </a:r>
          </a:p>
          <a:p>
            <a:pPr>
              <a:spcBef>
                <a:spcPts val="400"/>
              </a:spcBef>
              <a:spcAft>
                <a:spcPts val="400"/>
              </a:spcAft>
              <a:defRPr sz="1600">
                <a:solidFill>
                  <a:srgbClr val="000000"/>
                </a:solidFill>
              </a:defRPr>
            </a:pPr>
            <a:r>
              <a:t>Machine learning adapts to new data over time.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Approaches to AI Decision-Making</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Heuristic methods simplify complex problems.</a:t>
            </a:r>
          </a:p>
          <a:p>
            <a:pPr>
              <a:spcBef>
                <a:spcPts val="400"/>
              </a:spcBef>
              <a:spcAft>
                <a:spcPts val="400"/>
              </a:spcAft>
              <a:defRPr sz="1600">
                <a:solidFill>
                  <a:srgbClr val="000000"/>
                </a:solidFill>
              </a:defRPr>
            </a:pPr>
            <a:r>
              <a:t>Probabilistic models handle uncertainty in data.</a:t>
            </a:r>
          </a:p>
          <a:p>
            <a:pPr>
              <a:spcBef>
                <a:spcPts val="400"/>
              </a:spcBef>
              <a:spcAft>
                <a:spcPts val="400"/>
              </a:spcAft>
              <a:defRPr sz="1600">
                <a:solidFill>
                  <a:srgbClr val="000000"/>
                </a:solidFill>
              </a:defRPr>
            </a:pPr>
            <a:r>
              <a:t>Neural networks excel in pattern recognition.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Action and Interaction in AI Systems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AI agents execute actions based on decisions.</a:t>
            </a:r>
          </a:p>
          <a:p>
            <a:pPr>
              <a:spcBef>
                <a:spcPts val="400"/>
              </a:spcBef>
              <a:spcAft>
                <a:spcPts val="400"/>
              </a:spcAft>
              <a:defRPr sz="1600">
                <a:solidFill>
                  <a:srgbClr val="000000"/>
                </a:solidFill>
              </a:defRPr>
            </a:pPr>
            <a:r>
              <a:t>Interactions can be with humans or other systems.</a:t>
            </a:r>
          </a:p>
          <a:p>
            <a:pPr>
              <a:spcBef>
                <a:spcPts val="400"/>
              </a:spcBef>
              <a:spcAft>
                <a:spcPts val="400"/>
              </a:spcAft>
              <a:defRPr sz="1600">
                <a:solidFill>
                  <a:srgbClr val="000000"/>
                </a:solidFill>
              </a:defRPr>
            </a:pPr>
            <a:r>
              <a:t>Feedback loops improve system performance.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Learning Mechanisms in AI Agents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Supervised learning uses labeled data for training.</a:t>
            </a:r>
          </a:p>
          <a:p>
            <a:pPr>
              <a:spcBef>
                <a:spcPts val="400"/>
              </a:spcBef>
              <a:spcAft>
                <a:spcPts val="400"/>
              </a:spcAft>
              <a:defRPr sz="1600">
                <a:solidFill>
                  <a:srgbClr val="000000"/>
                </a:solidFill>
              </a:defRPr>
            </a:pPr>
            <a:r>
              <a:t>Unsupervised learning finds patterns in unlabeled data.</a:t>
            </a:r>
          </a:p>
          <a:p>
            <a:pPr>
              <a:spcBef>
                <a:spcPts val="400"/>
              </a:spcBef>
              <a:spcAft>
                <a:spcPts val="400"/>
              </a:spcAft>
              <a:defRPr sz="1600">
                <a:solidFill>
                  <a:srgbClr val="000000"/>
                </a:solidFill>
              </a:defRPr>
            </a:pPr>
            <a:r>
              <a:t>Reinforcement learning optimizes actions via rewards.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Advancements in AI Learning Technologies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Deep learning drives advancements in AI capabilities.</a:t>
            </a:r>
          </a:p>
          <a:p>
            <a:pPr>
              <a:spcBef>
                <a:spcPts val="400"/>
              </a:spcBef>
              <a:spcAft>
                <a:spcPts val="400"/>
              </a:spcAft>
              <a:defRPr sz="1600">
                <a:solidFill>
                  <a:srgbClr val="000000"/>
                </a:solidFill>
              </a:defRPr>
            </a:pPr>
            <a:r>
              <a:t>Transfer learning applies knowledge across tasks.</a:t>
            </a:r>
          </a:p>
          <a:p>
            <a:pPr>
              <a:spcBef>
                <a:spcPts val="400"/>
              </a:spcBef>
              <a:spcAft>
                <a:spcPts val="400"/>
              </a:spcAft>
              <a:defRPr sz="1600">
                <a:solidFill>
                  <a:srgbClr val="000000"/>
                </a:solidFill>
              </a:defRPr>
            </a:pPr>
            <a:r>
              <a:t>Continuous learning enables ongoing adaptation.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14400" y="2103120"/>
            <a:ext cx="7315200" cy="914400"/>
          </a:xfrm>
          <a:prstGeom prst="rect">
            <a:avLst/>
          </a:prstGeom>
          <a:noFill/>
        </p:spPr>
        <p:txBody>
          <a:bodyPr wrap="square">
            <a:spAutoFit/>
          </a:bodyPr>
          <a:lstStyle/>
          <a:p>
            <a:pPr algn="ctr">
              <a:defRPr sz="3600" b="1">
                <a:solidFill>
                  <a:srgbClr val="1F497D"/>
                </a:solidFill>
              </a:defRPr>
            </a:pPr>
            <a:r>
              <a:t>Agent Architectures and SDKs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Open AI Agents SDK Overview</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Provides tools for building intelligent agents</a:t>
            </a:r>
          </a:p>
          <a:p>
            <a:pPr>
              <a:spcBef>
                <a:spcPts val="400"/>
              </a:spcBef>
              <a:spcAft>
                <a:spcPts val="400"/>
              </a:spcAft>
              <a:defRPr sz="1600">
                <a:solidFill>
                  <a:srgbClr val="000000"/>
                </a:solidFill>
              </a:defRPr>
            </a:pPr>
            <a:r>
              <a:t>Supports integration with multiple AI models</a:t>
            </a:r>
          </a:p>
          <a:p>
            <a:pPr>
              <a:spcBef>
                <a:spcPts val="400"/>
              </a:spcBef>
              <a:spcAft>
                <a:spcPts val="400"/>
              </a:spcAft>
              <a:defRPr sz="1600">
                <a:solidFill>
                  <a:srgbClr val="000000"/>
                </a:solidFill>
              </a:defRPr>
            </a:pPr>
            <a:r>
              <a:t>Facilitates rapid prototyping of agent solutions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Key Features of Open AI Agents SDK</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Modular architecture for flexibility</a:t>
            </a:r>
          </a:p>
          <a:p>
            <a:pPr>
              <a:spcBef>
                <a:spcPts val="400"/>
              </a:spcBef>
              <a:spcAft>
                <a:spcPts val="400"/>
              </a:spcAft>
              <a:defRPr sz="1600">
                <a:solidFill>
                  <a:srgbClr val="000000"/>
                </a:solidFill>
              </a:defRPr>
            </a:pPr>
            <a:r>
              <a:t>Built-in support for natural language processing</a:t>
            </a:r>
          </a:p>
          <a:p>
            <a:pPr>
              <a:spcBef>
                <a:spcPts val="400"/>
              </a:spcBef>
              <a:spcAft>
                <a:spcPts val="400"/>
              </a:spcAft>
              <a:defRPr sz="1600">
                <a:solidFill>
                  <a:srgbClr val="000000"/>
                </a:solidFill>
              </a:defRPr>
            </a:pPr>
            <a:r>
              <a:t>Extensive documentation and community support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Architectural Patterns in AI Agents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Reactive vs. deliberative architectures</a:t>
            </a:r>
          </a:p>
          <a:p>
            <a:pPr>
              <a:spcBef>
                <a:spcPts val="400"/>
              </a:spcBef>
              <a:spcAft>
                <a:spcPts val="400"/>
              </a:spcAft>
              <a:defRPr sz="1600">
                <a:solidFill>
                  <a:srgbClr val="000000"/>
                </a:solidFill>
              </a:defRPr>
            </a:pPr>
            <a:r>
              <a:t>Hybrid architectures for complex tasks</a:t>
            </a:r>
          </a:p>
          <a:p>
            <a:pPr>
              <a:spcBef>
                <a:spcPts val="400"/>
              </a:spcBef>
              <a:spcAft>
                <a:spcPts val="400"/>
              </a:spcAft>
              <a:defRPr sz="1600">
                <a:solidFill>
                  <a:srgbClr val="000000"/>
                </a:solidFill>
              </a:defRPr>
            </a:pPr>
            <a:r>
              <a:t>Role of feedback loops in agent design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Case Study: AI Agent in Customer Service</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Implemented using Open AI Agents SDK</a:t>
            </a:r>
          </a:p>
          <a:p>
            <a:pPr>
              <a:spcBef>
                <a:spcPts val="400"/>
              </a:spcBef>
              <a:spcAft>
                <a:spcPts val="400"/>
              </a:spcAft>
              <a:defRPr sz="1600">
                <a:solidFill>
                  <a:srgbClr val="000000"/>
                </a:solidFill>
              </a:defRPr>
            </a:pPr>
            <a:r>
              <a:t>Reduced response time by 40%</a:t>
            </a:r>
          </a:p>
          <a:p>
            <a:pPr>
              <a:spcBef>
                <a:spcPts val="400"/>
              </a:spcBef>
              <a:spcAft>
                <a:spcPts val="400"/>
              </a:spcAft>
              <a:defRPr sz="1600">
                <a:solidFill>
                  <a:srgbClr val="000000"/>
                </a:solidFill>
              </a:defRPr>
            </a:pPr>
            <a:r>
              <a:t>Improved customer satisfaction scores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Case Study: AI Agent in Healthcare</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Assists in patient diagnosis and monitoring</a:t>
            </a:r>
          </a:p>
          <a:p>
            <a:pPr>
              <a:spcBef>
                <a:spcPts val="400"/>
              </a:spcBef>
              <a:spcAft>
                <a:spcPts val="400"/>
              </a:spcAft>
              <a:defRPr sz="1600">
                <a:solidFill>
                  <a:srgbClr val="000000"/>
                </a:solidFill>
              </a:defRPr>
            </a:pPr>
            <a:r>
              <a:t>Integrates with electronic health records</a:t>
            </a:r>
          </a:p>
          <a:p>
            <a:pPr>
              <a:spcBef>
                <a:spcPts val="400"/>
              </a:spcBef>
              <a:spcAft>
                <a:spcPts val="400"/>
              </a:spcAft>
              <a:defRPr sz="1600">
                <a:solidFill>
                  <a:srgbClr val="000000"/>
                </a:solidFill>
              </a:defRPr>
            </a:pPr>
            <a:r>
              <a:t>Enhances accuracy of diagnosis recommendations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14400" y="2103120"/>
            <a:ext cx="7315200" cy="914400"/>
          </a:xfrm>
          <a:prstGeom prst="rect">
            <a:avLst/>
          </a:prstGeom>
          <a:noFill/>
        </p:spPr>
        <p:txBody>
          <a:bodyPr wrap="square">
            <a:spAutoFit/>
          </a:bodyPr>
          <a:lstStyle/>
          <a:p>
            <a:pPr algn="ctr">
              <a:defRPr sz="3600" b="1">
                <a:solidFill>
                  <a:srgbClr val="1F497D"/>
                </a:solidFill>
              </a:defRPr>
            </a:pPr>
            <a:r>
              <a:t>Planning, Reasoning, and Tool Usage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Understanding Strategic Planning</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Define clear objectives and goals.</a:t>
            </a:r>
          </a:p>
          <a:p>
            <a:pPr>
              <a:spcBef>
                <a:spcPts val="400"/>
              </a:spcBef>
              <a:spcAft>
                <a:spcPts val="400"/>
              </a:spcAft>
              <a:defRPr sz="1600">
                <a:solidFill>
                  <a:srgbClr val="000000"/>
                </a:solidFill>
              </a:defRPr>
            </a:pPr>
            <a:r>
              <a:t>Identify resources and constraints.</a:t>
            </a:r>
          </a:p>
          <a:p>
            <a:pPr>
              <a:spcBef>
                <a:spcPts val="400"/>
              </a:spcBef>
              <a:spcAft>
                <a:spcPts val="400"/>
              </a:spcAft>
              <a:defRPr sz="1600">
                <a:solidFill>
                  <a:srgbClr val="000000"/>
                </a:solidFill>
              </a:defRPr>
            </a:pPr>
            <a:r>
              <a:t>Develop a timeline for implementation.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Key Elements of Logical Reasoning</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Identify premises and conclusions.</a:t>
            </a:r>
          </a:p>
          <a:p>
            <a:pPr>
              <a:spcBef>
                <a:spcPts val="400"/>
              </a:spcBef>
              <a:spcAft>
                <a:spcPts val="400"/>
              </a:spcAft>
              <a:defRPr sz="1600">
                <a:solidFill>
                  <a:srgbClr val="000000"/>
                </a:solidFill>
              </a:defRPr>
            </a:pPr>
            <a:r>
              <a:t>Evaluate the validity of arguments.</a:t>
            </a:r>
          </a:p>
          <a:p>
            <a:pPr>
              <a:spcBef>
                <a:spcPts val="400"/>
              </a:spcBef>
              <a:spcAft>
                <a:spcPts val="400"/>
              </a:spcAft>
              <a:defRPr sz="1600">
                <a:solidFill>
                  <a:srgbClr val="000000"/>
                </a:solidFill>
              </a:defRPr>
            </a:pPr>
            <a:r>
              <a:t>Use deductive and inductive reasoning.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Integrating Tools in Planning</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Select tools based on project needs.</a:t>
            </a:r>
          </a:p>
          <a:p>
            <a:pPr>
              <a:spcBef>
                <a:spcPts val="400"/>
              </a:spcBef>
              <a:spcAft>
                <a:spcPts val="400"/>
              </a:spcAft>
              <a:defRPr sz="1600">
                <a:solidFill>
                  <a:srgbClr val="000000"/>
                </a:solidFill>
              </a:defRPr>
            </a:pPr>
            <a:r>
              <a:t>Ensure compatibility with existing systems.</a:t>
            </a:r>
          </a:p>
          <a:p>
            <a:pPr>
              <a:spcBef>
                <a:spcPts val="400"/>
              </a:spcBef>
              <a:spcAft>
                <a:spcPts val="400"/>
              </a:spcAft>
              <a:defRPr sz="1600">
                <a:solidFill>
                  <a:srgbClr val="000000"/>
                </a:solidFill>
              </a:defRPr>
            </a:pPr>
            <a:r>
              <a:t>Provide training for effective usage.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Benefits of Strategic Tool Usage</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Enhances efficiency and productivity.</a:t>
            </a:r>
          </a:p>
          <a:p>
            <a:pPr>
              <a:spcBef>
                <a:spcPts val="400"/>
              </a:spcBef>
              <a:spcAft>
                <a:spcPts val="400"/>
              </a:spcAft>
              <a:defRPr sz="1600">
                <a:solidFill>
                  <a:srgbClr val="000000"/>
                </a:solidFill>
              </a:defRPr>
            </a:pPr>
            <a:r>
              <a:t>Improves data management and analysis.</a:t>
            </a:r>
          </a:p>
          <a:p>
            <a:pPr>
              <a:spcBef>
                <a:spcPts val="400"/>
              </a:spcBef>
              <a:spcAft>
                <a:spcPts val="400"/>
              </a:spcAft>
              <a:defRPr sz="1600">
                <a:solidFill>
                  <a:srgbClr val="000000"/>
                </a:solidFill>
              </a:defRPr>
            </a:pPr>
            <a:r>
              <a:t>Facilitates better communication.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Challenges in Tool Integration</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Resistance to change from employees.</a:t>
            </a:r>
          </a:p>
          <a:p>
            <a:pPr>
              <a:spcBef>
                <a:spcPts val="400"/>
              </a:spcBef>
              <a:spcAft>
                <a:spcPts val="400"/>
              </a:spcAft>
              <a:defRPr sz="1600">
                <a:solidFill>
                  <a:srgbClr val="000000"/>
                </a:solidFill>
              </a:defRPr>
            </a:pPr>
            <a:r>
              <a:t>Integration with legacy systems.</a:t>
            </a:r>
          </a:p>
          <a:p>
            <a:pPr>
              <a:spcBef>
                <a:spcPts val="400"/>
              </a:spcBef>
              <a:spcAft>
                <a:spcPts val="400"/>
              </a:spcAft>
              <a:defRPr sz="1600">
                <a:solidFill>
                  <a:srgbClr val="000000"/>
                </a:solidFill>
              </a:defRPr>
            </a:pPr>
            <a:r>
              <a:t>Continuous updates and maintenance.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14400" y="2103120"/>
            <a:ext cx="7315200" cy="914400"/>
          </a:xfrm>
          <a:prstGeom prst="rect">
            <a:avLst/>
          </a:prstGeom>
          <a:noFill/>
        </p:spPr>
        <p:txBody>
          <a:bodyPr wrap="square">
            <a:spAutoFit/>
          </a:bodyPr>
          <a:lstStyle/>
          <a:p>
            <a:pPr algn="ctr">
              <a:defRPr sz="3600" b="1">
                <a:solidFill>
                  <a:srgbClr val="1F497D"/>
                </a:solidFill>
              </a:defRPr>
            </a:pPr>
            <a:r>
              <a:t>Corrective RAG (CRAG) Overview</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Introduction to Corrective RAG</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CRAG is a project management tool for corrective actions.</a:t>
            </a:r>
          </a:p>
          <a:p>
            <a:pPr>
              <a:spcBef>
                <a:spcPts val="400"/>
              </a:spcBef>
              <a:spcAft>
                <a:spcPts val="400"/>
              </a:spcAft>
              <a:defRPr sz="1600">
                <a:solidFill>
                  <a:srgbClr val="000000"/>
                </a:solidFill>
              </a:defRPr>
            </a:pPr>
            <a:r>
              <a:t>Uses a color-coded system: Red, Amber, Green.</a:t>
            </a:r>
          </a:p>
          <a:p>
            <a:pPr>
              <a:spcBef>
                <a:spcPts val="400"/>
              </a:spcBef>
              <a:spcAft>
                <a:spcPts val="400"/>
              </a:spcAft>
              <a:defRPr sz="1600">
                <a:solidFill>
                  <a:srgbClr val="000000"/>
                </a:solidFill>
              </a:defRPr>
            </a:pPr>
            <a:r>
              <a:t>Enables quick identification and resolution of issues.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tretch>
            <a:fillRect/>
          </a:stretch>
        </p:blipFill>
        <p:spPr>
          <a:xfrm>
            <a:off x="4381500" y="2381250"/>
            <a:ext cx="0" cy="0"/>
          </a:xfrm>
          <a:prstGeom prst="rect">
            <a:avLst/>
          </a:prstGeom>
        </p:spPr>
      </p:pic>
      <p:pic>
        <p:nvPicPr>
          <p:cNvPr id="7" name="Picture 6"/>
          <p:cNvPicPr>
            <a:picLocks noChangeAspect="1"/>
          </p:cNvPicPr>
          <p:nvPr/>
        </p:nvPicPr>
        <p:blipFill>
          <a:blip r:embed="rId2"/>
          <a:stretch>
            <a:fillRect/>
          </a:stretch>
        </p:blipFill>
        <p:spPr>
          <a:xfrm>
            <a:off x="1066165" y="0"/>
            <a:ext cx="7011670" cy="51435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Key Benefits of Implementing CRAG</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Improves visibility of project health and status.</a:t>
            </a:r>
          </a:p>
          <a:p>
            <a:pPr>
              <a:spcBef>
                <a:spcPts val="400"/>
              </a:spcBef>
              <a:spcAft>
                <a:spcPts val="400"/>
              </a:spcAft>
              <a:defRPr sz="1600">
                <a:solidFill>
                  <a:srgbClr val="000000"/>
                </a:solidFill>
              </a:defRPr>
            </a:pPr>
            <a:r>
              <a:t>Facilitates proactive issue resolution.</a:t>
            </a:r>
          </a:p>
          <a:p>
            <a:pPr>
              <a:spcBef>
                <a:spcPts val="400"/>
              </a:spcBef>
              <a:spcAft>
                <a:spcPts val="400"/>
              </a:spcAft>
              <a:defRPr sz="1600">
                <a:solidFill>
                  <a:srgbClr val="000000"/>
                </a:solidFill>
              </a:defRPr>
            </a:pPr>
            <a:r>
              <a:t>Enhances communication among stakeholders.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Strategies for Effective CRAG Implementation</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Define clear criteria for each RAG status.</a:t>
            </a:r>
          </a:p>
          <a:p>
            <a:pPr>
              <a:spcBef>
                <a:spcPts val="400"/>
              </a:spcBef>
              <a:spcAft>
                <a:spcPts val="400"/>
              </a:spcAft>
              <a:defRPr sz="1600">
                <a:solidFill>
                  <a:srgbClr val="000000"/>
                </a:solidFill>
              </a:defRPr>
            </a:pPr>
            <a:r>
              <a:t>Regularly update status based on predefined metrics.</a:t>
            </a:r>
          </a:p>
          <a:p>
            <a:pPr>
              <a:spcBef>
                <a:spcPts val="400"/>
              </a:spcBef>
              <a:spcAft>
                <a:spcPts val="400"/>
              </a:spcAft>
              <a:defRPr sz="1600">
                <a:solidFill>
                  <a:srgbClr val="000000"/>
                </a:solidFill>
              </a:defRPr>
            </a:pPr>
            <a:r>
              <a:t>Engage stakeholders in the CRAG process.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Applications of CRAG in Project Management</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Used in risk management to identify potential issues.</a:t>
            </a:r>
          </a:p>
          <a:p>
            <a:pPr>
              <a:spcBef>
                <a:spcPts val="400"/>
              </a:spcBef>
              <a:spcAft>
                <a:spcPts val="400"/>
              </a:spcAft>
              <a:defRPr sz="1600">
                <a:solidFill>
                  <a:srgbClr val="000000"/>
                </a:solidFill>
              </a:defRPr>
            </a:pPr>
            <a:r>
              <a:t>Helps track progress and performance against goals.</a:t>
            </a:r>
          </a:p>
          <a:p>
            <a:pPr>
              <a:spcBef>
                <a:spcPts val="400"/>
              </a:spcBef>
              <a:spcAft>
                <a:spcPts val="400"/>
              </a:spcAft>
              <a:defRPr sz="1600">
                <a:solidFill>
                  <a:srgbClr val="000000"/>
                </a:solidFill>
              </a:defRPr>
            </a:pPr>
            <a:r>
              <a:t>Supports decision-making with visual status indicators.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14400" y="2103120"/>
            <a:ext cx="7315200" cy="914400"/>
          </a:xfrm>
          <a:prstGeom prst="rect">
            <a:avLst/>
          </a:prstGeom>
          <a:noFill/>
        </p:spPr>
        <p:txBody>
          <a:bodyPr wrap="square">
            <a:spAutoFit/>
          </a:bodyPr>
          <a:lstStyle/>
          <a:p>
            <a:pPr algn="ctr">
              <a:defRPr sz="3600" b="1">
                <a:solidFill>
                  <a:srgbClr val="1F497D"/>
                </a:solidFill>
              </a:defRPr>
            </a:pPr>
            <a:r>
              <a:t>Single-agent vs Multi-agent Systems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Comparative Analysis of Agent Systems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Single-agent systems focus on individual task completion.</a:t>
            </a:r>
          </a:p>
          <a:p>
            <a:pPr>
              <a:spcBef>
                <a:spcPts val="400"/>
              </a:spcBef>
              <a:spcAft>
                <a:spcPts val="400"/>
              </a:spcAft>
              <a:defRPr sz="1600">
                <a:solidFill>
                  <a:srgbClr val="000000"/>
                </a:solidFill>
              </a:defRPr>
            </a:pPr>
            <a:r>
              <a:t>Multi-agent systems coordinate among multiple agents.</a:t>
            </a:r>
          </a:p>
          <a:p>
            <a:pPr>
              <a:spcBef>
                <a:spcPts val="400"/>
              </a:spcBef>
              <a:spcAft>
                <a:spcPts val="400"/>
              </a:spcAft>
              <a:defRPr sz="1600">
                <a:solidFill>
                  <a:srgbClr val="000000"/>
                </a:solidFill>
              </a:defRPr>
            </a:pPr>
            <a:r>
              <a:t>Complexity increases with number of agents in the system.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Benefits of Single-agent Systems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Simpler design and implementation.</a:t>
            </a:r>
          </a:p>
          <a:p>
            <a:pPr>
              <a:spcBef>
                <a:spcPts val="400"/>
              </a:spcBef>
              <a:spcAft>
                <a:spcPts val="400"/>
              </a:spcAft>
              <a:defRPr sz="1600">
                <a:solidFill>
                  <a:srgbClr val="000000"/>
                </a:solidFill>
              </a:defRPr>
            </a:pPr>
            <a:r>
              <a:t>Easier to manage and debug.</a:t>
            </a:r>
          </a:p>
          <a:p>
            <a:pPr>
              <a:spcBef>
                <a:spcPts val="400"/>
              </a:spcBef>
              <a:spcAft>
                <a:spcPts val="400"/>
              </a:spcAft>
              <a:defRPr sz="1600">
                <a:solidFill>
                  <a:srgbClr val="000000"/>
                </a:solidFill>
              </a:defRPr>
            </a:pPr>
            <a:r>
              <a:t>Lower resource requirements compared to multi-agent.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Challenges of Multi-agent Systems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Increased complexity in coordination.</a:t>
            </a:r>
          </a:p>
          <a:p>
            <a:pPr>
              <a:spcBef>
                <a:spcPts val="400"/>
              </a:spcBef>
              <a:spcAft>
                <a:spcPts val="400"/>
              </a:spcAft>
              <a:defRPr sz="1600">
                <a:solidFill>
                  <a:srgbClr val="000000"/>
                </a:solidFill>
              </a:defRPr>
            </a:pPr>
            <a:r>
              <a:t>Potential for communication overhead.</a:t>
            </a:r>
          </a:p>
          <a:p>
            <a:pPr>
              <a:spcBef>
                <a:spcPts val="400"/>
              </a:spcBef>
              <a:spcAft>
                <a:spcPts val="400"/>
              </a:spcAft>
              <a:defRPr sz="1600">
                <a:solidFill>
                  <a:srgbClr val="000000"/>
                </a:solidFill>
              </a:defRPr>
            </a:pPr>
            <a:r>
              <a:t>Difficulty in ensuring global system efficiency.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Use Cases for Single-agent Systems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Effective in environments with static tasks.</a:t>
            </a:r>
          </a:p>
          <a:p>
            <a:pPr>
              <a:spcBef>
                <a:spcPts val="400"/>
              </a:spcBef>
              <a:spcAft>
                <a:spcPts val="400"/>
              </a:spcAft>
              <a:defRPr sz="1600">
                <a:solidFill>
                  <a:srgbClr val="000000"/>
                </a:solidFill>
              </a:defRPr>
            </a:pPr>
            <a:r>
              <a:t>Ideal for scenarios with limited complexity.</a:t>
            </a:r>
          </a:p>
          <a:p>
            <a:pPr>
              <a:spcBef>
                <a:spcPts val="400"/>
              </a:spcBef>
              <a:spcAft>
                <a:spcPts val="400"/>
              </a:spcAft>
              <a:defRPr sz="1600">
                <a:solidFill>
                  <a:srgbClr val="000000"/>
                </a:solidFill>
              </a:defRPr>
            </a:pPr>
            <a:r>
              <a:t>Suitable for tasks with clear and defined goals.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Use Cases for Multi-agent Systems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Applicable in dynamic and complex environments.</a:t>
            </a:r>
          </a:p>
          <a:p>
            <a:pPr>
              <a:spcBef>
                <a:spcPts val="400"/>
              </a:spcBef>
              <a:spcAft>
                <a:spcPts val="400"/>
              </a:spcAft>
              <a:defRPr sz="1600">
                <a:solidFill>
                  <a:srgbClr val="000000"/>
                </a:solidFill>
              </a:defRPr>
            </a:pPr>
            <a:r>
              <a:t>Useful for tasks requiring collaboration.</a:t>
            </a:r>
          </a:p>
          <a:p>
            <a:pPr>
              <a:spcBef>
                <a:spcPts val="400"/>
              </a:spcBef>
              <a:spcAft>
                <a:spcPts val="400"/>
              </a:spcAft>
              <a:defRPr sz="1600">
                <a:solidFill>
                  <a:srgbClr val="000000"/>
                </a:solidFill>
              </a:defRPr>
            </a:pPr>
            <a:r>
              <a:t>Ideal for distributed problem-solving scenarios.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914400" y="2103120"/>
            <a:ext cx="7315200" cy="914400"/>
          </a:xfrm>
          <a:prstGeom prst="rect">
            <a:avLst/>
          </a:prstGeom>
          <a:noFill/>
        </p:spPr>
        <p:txBody>
          <a:bodyPr wrap="square">
            <a:spAutoFit/>
          </a:bodyPr>
          <a:lstStyle/>
          <a:p>
            <a:pPr algn="ctr">
              <a:defRPr sz="3600" b="1">
                <a:solidFill>
                  <a:srgbClr val="1F497D"/>
                </a:solidFill>
              </a:defRPr>
            </a:pPr>
            <a:r>
              <a:t>Building and Managing AI Agents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Hands-on AI Agent Development Essentials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Understand AI agent architectures and models</a:t>
            </a:r>
          </a:p>
          <a:p>
            <a:pPr>
              <a:spcBef>
                <a:spcPts val="400"/>
              </a:spcBef>
              <a:spcAft>
                <a:spcPts val="400"/>
              </a:spcAft>
              <a:defRPr sz="1600">
                <a:solidFill>
                  <a:srgbClr val="000000"/>
                </a:solidFill>
              </a:defRPr>
            </a:pPr>
            <a:r>
              <a:t>Implement foundational algorithms and techniques</a:t>
            </a:r>
          </a:p>
          <a:p>
            <a:pPr>
              <a:spcBef>
                <a:spcPts val="400"/>
              </a:spcBef>
              <a:spcAft>
                <a:spcPts val="400"/>
              </a:spcAft>
              <a:defRPr sz="1600">
                <a:solidFill>
                  <a:srgbClr val="000000"/>
                </a:solidFill>
              </a:defRPr>
            </a:pPr>
            <a:r>
              <a:t>Utilize development tools for efficient coding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Setting Up Development Environments</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Choose appropriate development frameworks</a:t>
            </a:r>
          </a:p>
          <a:p>
            <a:pPr>
              <a:spcBef>
                <a:spcPts val="400"/>
              </a:spcBef>
              <a:spcAft>
                <a:spcPts val="400"/>
              </a:spcAft>
              <a:defRPr sz="1600">
                <a:solidFill>
                  <a:srgbClr val="000000"/>
                </a:solidFill>
              </a:defRPr>
            </a:pPr>
            <a:r>
              <a:t>Ensure compatibility with AI libraries and tools</a:t>
            </a:r>
          </a:p>
          <a:p>
            <a:pPr>
              <a:spcBef>
                <a:spcPts val="400"/>
              </a:spcBef>
              <a:spcAft>
                <a:spcPts val="400"/>
              </a:spcAft>
              <a:defRPr sz="1600">
                <a:solidFill>
                  <a:srgbClr val="000000"/>
                </a:solidFill>
              </a:defRPr>
            </a:pPr>
            <a:r>
              <a:t>Optimize for collaborative coding and testing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Managing Multi-agent Workflows with LangGraph</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Integrate LangGraph for seamless workflows</a:t>
            </a:r>
          </a:p>
          <a:p>
            <a:pPr>
              <a:spcBef>
                <a:spcPts val="400"/>
              </a:spcBef>
              <a:spcAft>
                <a:spcPts val="400"/>
              </a:spcAft>
              <a:defRPr sz="1600">
                <a:solidFill>
                  <a:srgbClr val="000000"/>
                </a:solidFill>
              </a:defRPr>
            </a:pPr>
            <a:r>
              <a:t>Coordinate tasks among multiple agents</a:t>
            </a:r>
          </a:p>
          <a:p>
            <a:pPr>
              <a:spcBef>
                <a:spcPts val="400"/>
              </a:spcBef>
              <a:spcAft>
                <a:spcPts val="400"/>
              </a:spcAft>
              <a:defRPr sz="1600">
                <a:solidFill>
                  <a:srgbClr val="000000"/>
                </a:solidFill>
              </a:defRPr>
            </a:pPr>
            <a:r>
              <a:t>Monitor and optimize agent interactions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Agentic Handoff Techniques in AI</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Ensure smooth transitions between agents</a:t>
            </a:r>
          </a:p>
          <a:p>
            <a:pPr>
              <a:spcBef>
                <a:spcPts val="400"/>
              </a:spcBef>
              <a:spcAft>
                <a:spcPts val="400"/>
              </a:spcAft>
              <a:defRPr sz="1600">
                <a:solidFill>
                  <a:srgbClr val="000000"/>
                </a:solidFill>
              </a:defRPr>
            </a:pPr>
            <a:r>
              <a:t>Utilize protocols for effective handoff</a:t>
            </a:r>
          </a:p>
          <a:p>
            <a:pPr>
              <a:spcBef>
                <a:spcPts val="400"/>
              </a:spcBef>
              <a:spcAft>
                <a:spcPts val="400"/>
              </a:spcAft>
              <a:defRPr sz="1600">
                <a:solidFill>
                  <a:srgbClr val="000000"/>
                </a:solidFill>
              </a:defRPr>
            </a:pPr>
            <a:r>
              <a:t>Minimize data and task loss during handoff</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wrap="square"/>
          <a:lstStyle/>
          <a:p>
            <a:pPr>
              <a:defRPr sz="2800" b="1">
                <a:solidFill>
                  <a:srgbClr val="1F497D"/>
                </a:solidFill>
              </a:defRPr>
            </a:pPr>
            <a:r>
              <a:t>Best Practices for AI Agent Management</a:t>
            </a:r>
          </a:p>
        </p:txBody>
      </p:sp>
      <p:sp>
        <p:nvSpPr>
          <p:cNvPr id="3" name="Content Placeholder 2"/>
          <p:cNvSpPr>
            <a:spLocks noGrp="1"/>
          </p:cNvSpPr>
          <p:nvPr>
            <p:ph idx="1"/>
          </p:nvPr>
        </p:nvSpPr>
        <p:spPr/>
        <p:txBody>
          <a:bodyPr wrap="square"/>
          <a:lstStyle/>
          <a:p>
            <a:pPr>
              <a:spcBef>
                <a:spcPts val="400"/>
              </a:spcBef>
              <a:spcAft>
                <a:spcPts val="400"/>
              </a:spcAft>
              <a:defRPr sz="1600">
                <a:solidFill>
                  <a:srgbClr val="000000"/>
                </a:solidFill>
              </a:defRPr>
            </a:pPr>
            <a:r>
              <a:t>Regularly update and maintain AI models</a:t>
            </a:r>
          </a:p>
          <a:p>
            <a:pPr>
              <a:spcBef>
                <a:spcPts val="400"/>
              </a:spcBef>
              <a:spcAft>
                <a:spcPts val="400"/>
              </a:spcAft>
              <a:defRPr sz="1600">
                <a:solidFill>
                  <a:srgbClr val="000000"/>
                </a:solidFill>
              </a:defRPr>
            </a:pPr>
            <a:r>
              <a:t>Implement robust security measures</a:t>
            </a:r>
          </a:p>
          <a:p>
            <a:pPr>
              <a:spcBef>
                <a:spcPts val="400"/>
              </a:spcBef>
              <a:spcAft>
                <a:spcPts val="400"/>
              </a:spcAft>
              <a:defRPr sz="1600">
                <a:solidFill>
                  <a:srgbClr val="000000"/>
                </a:solidFill>
              </a:defRPr>
            </a:pPr>
            <a:r>
              <a:t>Foster continuous learning and improvement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6434</Words>
  <Application>WPS Sheets</Application>
  <PresentationFormat>On-screen Show (4:3)</PresentationFormat>
  <Paragraphs>235</Paragraphs>
  <Slides>51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51</vt:i4>
      </vt:variant>
    </vt:vector>
  </HeadingPairs>
  <TitlesOfParts>
    <vt:vector size="62" baseType="lpstr">
      <vt:lpstr>Arial</vt:lpstr>
      <vt:lpstr>SimSun</vt:lpstr>
      <vt:lpstr>Wingdings</vt:lpstr>
      <vt:lpstr>Arial</vt:lpstr>
      <vt:lpstr>Calibri</vt:lpstr>
      <vt:lpstr>Helvetica Neue</vt:lpstr>
      <vt:lpstr>Microsoft YaHei</vt:lpstr>
      <vt:lpstr>汉仪旗黑</vt:lpstr>
      <vt:lpstr>Arial Unicode MS</vt:lpstr>
      <vt:lpstr>宋体-简</vt:lpstr>
      <vt:lpstr>Office Theme</vt:lpstr>
      <vt:lpstr>PowerPoint 演示文稿</vt:lpstr>
      <vt:lpstr>PowerPoint 演示文稿</vt:lpstr>
      <vt:lpstr>Overview of Agentic AI</vt:lpstr>
      <vt:lpstr>Importance in Modern Applications</vt:lpstr>
      <vt:lpstr>Session Objectives</vt:lpstr>
      <vt:lpstr>PowerPoint 演示文稿</vt:lpstr>
      <vt:lpstr>Historical Progression of AI Agents</vt:lpstr>
      <vt:lpstr>AI Winter and Subsequent Revival</vt:lpstr>
      <vt:lpstr>Key Milestone: Deep Learning Emergence</vt:lpstr>
      <vt:lpstr>Future Prospects of AI Agents</vt:lpstr>
      <vt:lpstr>Impact of AI on Modern Technology</vt:lpstr>
      <vt:lpstr>AI Milestone: AlphaGo Defeats Human Champion</vt:lpstr>
      <vt:lpstr>PowerPoint 演示文稿</vt:lpstr>
      <vt:lpstr>PowerPoint 演示文稿</vt:lpstr>
      <vt:lpstr>Understanding Perception and Sensing</vt:lpstr>
      <vt:lpstr>PowerPoint 演示文稿</vt:lpstr>
      <vt:lpstr>Decision-Making Processes in AI</vt:lpstr>
      <vt:lpstr>Approaches to AI Decision-Making</vt:lpstr>
      <vt:lpstr>Action and Interaction in AI Systems</vt:lpstr>
      <vt:lpstr>Learning Mechanisms in AI Agents</vt:lpstr>
      <vt:lpstr>Advancements in AI Learning Technologies</vt:lpstr>
      <vt:lpstr>PowerPoint 演示文稿</vt:lpstr>
      <vt:lpstr>Open AI Agents SDK Overview</vt:lpstr>
      <vt:lpstr>Key Features of Open AI Agents SDK</vt:lpstr>
      <vt:lpstr>Architectural Patterns in AI Agents</vt:lpstr>
      <vt:lpstr>Case Study: AI Agent in Customer Service</vt:lpstr>
      <vt:lpstr>Case Study: AI Agent in Healthcare</vt:lpstr>
      <vt:lpstr>PowerPoint 演示文稿</vt:lpstr>
      <vt:lpstr>Understanding Strategic Planning</vt:lpstr>
      <vt:lpstr>Key Elements of Logical Reasoning</vt:lpstr>
      <vt:lpstr>Integrating Tools in Planning</vt:lpstr>
      <vt:lpstr>Benefits of Strategic Tool Usage</vt:lpstr>
      <vt:lpstr>Challenges in Tool Integration</vt:lpstr>
      <vt:lpstr>PowerPoint 演示文稿</vt:lpstr>
      <vt:lpstr>Introduction to Corrective RAG</vt:lpstr>
      <vt:lpstr>Introduction to Corrective RAG</vt:lpstr>
      <vt:lpstr>Key Benefits of Implementing CRAG</vt:lpstr>
      <vt:lpstr>Strategies for Effective CRAG Implementation</vt:lpstr>
      <vt:lpstr>Applications of CRAG in Project Management</vt:lpstr>
      <vt:lpstr>PowerPoint 演示文稿</vt:lpstr>
      <vt:lpstr>Comparative Analysis of Agent Systems</vt:lpstr>
      <vt:lpstr>Benefits of Single-agent Systems</vt:lpstr>
      <vt:lpstr>Challenges of Multi-agent Systems</vt:lpstr>
      <vt:lpstr>Use Cases for Single-agent Systems</vt:lpstr>
      <vt:lpstr>Use Cases for Multi-agent Systems</vt:lpstr>
      <vt:lpstr>PowerPoint 演示文稿</vt:lpstr>
      <vt:lpstr>Hands-on AI Agent Development Essentials</vt:lpstr>
      <vt:lpstr>Setting Up Development Environments</vt:lpstr>
      <vt:lpstr>Managing Multi-agent Workflows with LangGraph</vt:lpstr>
      <vt:lpstr>Agentic Handoff Techniques in AI</vt:lpstr>
      <vt:lpstr>Best Practices for AI Agent Management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shukranaahmed</cp:lastModifiedBy>
  <cp:revision>3</cp:revision>
  <dcterms:created xsi:type="dcterms:W3CDTF">2026-03-02T03:56:15Z</dcterms:created>
  <dcterms:modified xsi:type="dcterms:W3CDTF">2026-03-02T03:56:15Z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507CBD8A802704FEF07BA469687B0064_42</vt:lpwstr>
  </property>
  <property fmtid="{D5CDD505-2E9C-101B-9397-08002B2CF9AE}" pid="3" name="KSOProductBuildVer">
    <vt:lpwstr>1033-12.1.23155.23155</vt:lpwstr>
  </property>
</Properties>
</file>